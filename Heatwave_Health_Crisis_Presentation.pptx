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9"/>
  </p:notesMasterIdLst>
  <p:sldIdLst>
    <p:sldId id="256" r:id="rId3"/>
    <p:sldId id="571" r:id="rId4"/>
    <p:sldId id="572" r:id="rId5"/>
    <p:sldId id="573" r:id="rId6"/>
    <p:sldId id="574" r:id="rId7"/>
    <p:sldId id="575" r:id="rId8"/>
    <p:sldId id="576" r:id="rId9"/>
    <p:sldId id="580" r:id="rId10"/>
    <p:sldId id="581" r:id="rId11"/>
    <p:sldId id="582" r:id="rId12"/>
    <p:sldId id="583" r:id="rId13"/>
    <p:sldId id="584" r:id="rId14"/>
    <p:sldId id="577" r:id="rId15"/>
    <p:sldId id="579" r:id="rId16"/>
    <p:sldId id="578" r:id="rId17"/>
    <p:sldId id="536"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showGuides="1">
      <p:cViewPr varScale="1">
        <p:scale>
          <a:sx n="106" d="100"/>
          <a:sy n="106" d="100"/>
        </p:scale>
        <p:origin x="756" y="114"/>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3/11/2026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11/03/2026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  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  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454632" y="1268611"/>
            <a:ext cx="5032505" cy="291591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600" b="1" cap="all" dirty="0">
                <a:latin typeface="Aptos"/>
              </a:rPr>
              <a:t>Heatwave &amp; Health Crisis Dashboard: </a:t>
            </a:r>
            <a:r>
              <a:rPr lang="en-US" sz="2600" b="1" cap="all" dirty="0" err="1">
                <a:latin typeface="Aptos"/>
              </a:rPr>
              <a:t>Analysing</a:t>
            </a:r>
            <a:r>
              <a:rPr lang="en-US" sz="2600" b="1" cap="all" dirty="0">
                <a:latin typeface="Aptos"/>
              </a:rPr>
              <a:t> India’s Summer Heat Stroke Impact (2015–2024)</a:t>
            </a:r>
            <a:endParaRPr lang="en-US" sz="2600" dirty="0">
              <a:latin typeface="Aptos"/>
            </a:endParaRPr>
          </a:p>
          <a:p>
            <a:pPr algn="l"/>
            <a:endParaRPr lang="en-US" sz="5100" b="1" kern="1200" dirty="0"/>
          </a:p>
        </p:txBody>
      </p:sp>
      <p:sp>
        <p:nvSpPr>
          <p:cNvPr id="5" name="Subtitle 2"/>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p>
          <a:p>
            <a:pPr algn="l">
              <a:spcAft>
                <a:spcPts val="600"/>
              </a:spcAft>
            </a:pPr>
            <a:r>
              <a:rPr lang="en-US" sz="1600" b="1" cap="all" dirty="0"/>
              <a:t>College Name:</a:t>
            </a:r>
          </a:p>
          <a:p>
            <a:pPr algn="l">
              <a:spcAft>
                <a:spcPts val="600"/>
              </a:spcAft>
            </a:pPr>
            <a:r>
              <a:rPr lang="en-US" sz="1600" b="1" cap="all" dirty="0"/>
              <a:t>Department:</a:t>
            </a:r>
          </a:p>
          <a:p>
            <a:pPr algn="l">
              <a:spcAft>
                <a:spcPts val="600"/>
              </a:spcAft>
            </a:pPr>
            <a:r>
              <a:rPr lang="en-US" sz="1600" b="1" cap="all" dirty="0"/>
              <a:t>Email ID:</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pic>
        <p:nvPicPr>
          <p:cNvPr id="6" name="Picture 5">
            <a:extLst>
              <a:ext uri="{FF2B5EF4-FFF2-40B4-BE49-F238E27FC236}">
                <a16:creationId xmlns:a16="http://schemas.microsoft.com/office/drawing/2014/main" id="{7F99D419-11EC-F07A-1EFE-4DE019F9D935}"/>
              </a:ext>
            </a:extLst>
          </p:cNvPr>
          <p:cNvPicPr>
            <a:picLocks noChangeAspect="1"/>
          </p:cNvPicPr>
          <p:nvPr/>
        </p:nvPicPr>
        <p:blipFill>
          <a:blip r:embed="rId6">
            <a:extLst>
              <a:ext uri="{28A0092B-C50C-407E-A947-70E740481C1C}">
                <a14:useLocalDpi xmlns:a14="http://schemas.microsoft.com/office/drawing/2010/main" val="0"/>
              </a:ext>
            </a:extLst>
          </a:blip>
          <a:srcRect r="2297"/>
          <a:stretch>
            <a:fillRect/>
          </a:stretch>
        </p:blipFill>
        <p:spPr>
          <a:xfrm>
            <a:off x="6371437" y="958481"/>
            <a:ext cx="4737166" cy="4936489"/>
          </a:xfrm>
          <a:prstGeom prst="rect">
            <a:avLst/>
          </a:prstGeom>
        </p:spPr>
      </p:pic>
      <p:sp>
        <p:nvSpPr>
          <p:cNvPr id="7" name="TextBox 6">
            <a:extLst>
              <a:ext uri="{FF2B5EF4-FFF2-40B4-BE49-F238E27FC236}">
                <a16:creationId xmlns:a16="http://schemas.microsoft.com/office/drawing/2014/main" id="{63FA2B26-2BA5-BBC6-230F-80AF132885BE}"/>
              </a:ext>
            </a:extLst>
          </p:cNvPr>
          <p:cNvSpPr txBox="1"/>
          <p:nvPr/>
        </p:nvSpPr>
        <p:spPr>
          <a:xfrm>
            <a:off x="2293317" y="3739254"/>
            <a:ext cx="2985452" cy="369332"/>
          </a:xfrm>
          <a:prstGeom prst="rect">
            <a:avLst/>
          </a:prstGeom>
          <a:noFill/>
        </p:spPr>
        <p:txBody>
          <a:bodyPr wrap="square" rtlCol="0">
            <a:spAutoFit/>
          </a:bodyPr>
          <a:lstStyle/>
          <a:p>
            <a:r>
              <a:rPr lang="en-IN" dirty="0"/>
              <a:t>Shreya Madhav Itkapalle</a:t>
            </a:r>
          </a:p>
        </p:txBody>
      </p:sp>
      <p:sp>
        <p:nvSpPr>
          <p:cNvPr id="10" name="TextBox 9">
            <a:extLst>
              <a:ext uri="{FF2B5EF4-FFF2-40B4-BE49-F238E27FC236}">
                <a16:creationId xmlns:a16="http://schemas.microsoft.com/office/drawing/2014/main" id="{6C63C962-F317-DE10-2E26-CB9850790426}"/>
              </a:ext>
            </a:extLst>
          </p:cNvPr>
          <p:cNvSpPr txBox="1"/>
          <p:nvPr/>
        </p:nvSpPr>
        <p:spPr>
          <a:xfrm>
            <a:off x="2303175" y="4131432"/>
            <a:ext cx="2985452" cy="369332"/>
          </a:xfrm>
          <a:prstGeom prst="rect">
            <a:avLst/>
          </a:prstGeom>
          <a:noFill/>
        </p:spPr>
        <p:txBody>
          <a:bodyPr wrap="square" rtlCol="0">
            <a:spAutoFit/>
          </a:bodyPr>
          <a:lstStyle/>
          <a:p>
            <a:r>
              <a:rPr lang="en-IN" dirty="0"/>
              <a:t>Shreya Madhav Itkapalle</a:t>
            </a:r>
          </a:p>
        </p:txBody>
      </p:sp>
      <p:sp>
        <p:nvSpPr>
          <p:cNvPr id="11" name="TextBox 10">
            <a:extLst>
              <a:ext uri="{FF2B5EF4-FFF2-40B4-BE49-F238E27FC236}">
                <a16:creationId xmlns:a16="http://schemas.microsoft.com/office/drawing/2014/main" id="{410AE963-6F59-F76C-1EBB-31DCB3D581FC}"/>
              </a:ext>
            </a:extLst>
          </p:cNvPr>
          <p:cNvSpPr txBox="1"/>
          <p:nvPr/>
        </p:nvSpPr>
        <p:spPr>
          <a:xfrm>
            <a:off x="2293317" y="4541036"/>
            <a:ext cx="3970292" cy="369332"/>
          </a:xfrm>
          <a:prstGeom prst="rect">
            <a:avLst/>
          </a:prstGeom>
          <a:noFill/>
        </p:spPr>
        <p:txBody>
          <a:bodyPr wrap="square" rtlCol="0">
            <a:spAutoFit/>
          </a:bodyPr>
          <a:lstStyle/>
          <a:p>
            <a:r>
              <a:rPr lang="en-IN" dirty="0"/>
              <a:t>Parul University</a:t>
            </a:r>
          </a:p>
        </p:txBody>
      </p:sp>
      <p:sp>
        <p:nvSpPr>
          <p:cNvPr id="12" name="TextBox 11">
            <a:extLst>
              <a:ext uri="{FF2B5EF4-FFF2-40B4-BE49-F238E27FC236}">
                <a16:creationId xmlns:a16="http://schemas.microsoft.com/office/drawing/2014/main" id="{45D16A9E-C472-DB6D-8B36-84F6C53BF65F}"/>
              </a:ext>
            </a:extLst>
          </p:cNvPr>
          <p:cNvSpPr txBox="1"/>
          <p:nvPr/>
        </p:nvSpPr>
        <p:spPr>
          <a:xfrm>
            <a:off x="2293317" y="4966591"/>
            <a:ext cx="2985452" cy="369332"/>
          </a:xfrm>
          <a:prstGeom prst="rect">
            <a:avLst/>
          </a:prstGeom>
          <a:noFill/>
        </p:spPr>
        <p:txBody>
          <a:bodyPr wrap="square" rtlCol="0">
            <a:spAutoFit/>
          </a:bodyPr>
          <a:lstStyle/>
          <a:p>
            <a:r>
              <a:rPr lang="en-IN" dirty="0" err="1"/>
              <a:t>B.Tech</a:t>
            </a:r>
            <a:r>
              <a:rPr lang="en-IN" dirty="0"/>
              <a:t> - CSE</a:t>
            </a:r>
          </a:p>
        </p:txBody>
      </p:sp>
      <p:sp>
        <p:nvSpPr>
          <p:cNvPr id="13" name="TextBox 12">
            <a:extLst>
              <a:ext uri="{FF2B5EF4-FFF2-40B4-BE49-F238E27FC236}">
                <a16:creationId xmlns:a16="http://schemas.microsoft.com/office/drawing/2014/main" id="{CABF3ABA-C53E-CCC5-C479-3C9C94AAD122}"/>
              </a:ext>
            </a:extLst>
          </p:cNvPr>
          <p:cNvSpPr txBox="1"/>
          <p:nvPr/>
        </p:nvSpPr>
        <p:spPr>
          <a:xfrm>
            <a:off x="2303175" y="5395269"/>
            <a:ext cx="2985452" cy="369332"/>
          </a:xfrm>
          <a:prstGeom prst="rect">
            <a:avLst/>
          </a:prstGeom>
          <a:noFill/>
        </p:spPr>
        <p:txBody>
          <a:bodyPr wrap="square" rtlCol="0">
            <a:spAutoFit/>
          </a:bodyPr>
          <a:lstStyle/>
          <a:p>
            <a:r>
              <a:rPr lang="en-IN" dirty="0"/>
              <a:t>shreyaitkapalle@gmail.com</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IN" sz="2000">
                <a:latin typeface="Franklin Gothic Book" panose="020B0503020102020204"/>
              </a:rPr>
              <a:t>India experiences severe heatwaves every summer, yet official heatstroke death records capture only ~40% of the actual toll. States like Bihar, Uttar Pradesh, and Madhya Pradesh report significantly fewer deaths than researchers estimate, making effective policy response impossible.</a:t>
            </a:r>
            <a:endParaRPr lang="en-US" sz="2000"/>
          </a:p>
          <a:p>
            <a:pPr marL="0" indent="0">
              <a:buNone/>
            </a:pPr>
            <a:r>
              <a:rPr lang="en-IN" sz="2000">
                <a:latin typeface="Franklin Gothic Book" panose="020B0503020102020204"/>
              </a:rPr>
              <a:t>There is no unified platform connecting temperature trends, health impacts, infrastructure preparedness, and economic losses, making data-driven decisions difficult for health authorities.</a:t>
            </a:r>
            <a:endParaRPr lang="en-US" sz="2000"/>
          </a:p>
          <a:p>
            <a:pPr marL="0" indent="0">
              <a:buNone/>
            </a:pPr>
            <a:r>
              <a:rPr lang="en-IN" sz="2000" b="1">
                <a:latin typeface="Franklin Gothic Book" panose="020B0503020102020204"/>
              </a:rPr>
              <a:t>Key Challenges:</a:t>
            </a:r>
            <a:endParaRPr lang="en-US" sz="2000"/>
          </a:p>
          <a:p>
            <a:pPr marL="0" indent="0">
              <a:buChar char="•"/>
            </a:pPr>
            <a:r>
              <a:rPr lang="en-IN" sz="1800">
                <a:latin typeface="Franklin Gothic Book" panose="020B0503020102020204"/>
              </a:rPr>
              <a:t>Massive under-reporting of heatstroke deaths (only ~40% captured officially)</a:t>
            </a:r>
            <a:endParaRPr lang="en-US" sz="1800"/>
          </a:p>
          <a:p>
            <a:pPr marL="0" indent="0">
              <a:buChar char="•"/>
            </a:pPr>
            <a:r>
              <a:rPr lang="en-IN" sz="1800">
                <a:latin typeface="Franklin Gothic Book" panose="020B0503020102020204"/>
              </a:rPr>
              <a:t>No correlation established between infrastructure investment and deaths</a:t>
            </a:r>
            <a:endParaRPr lang="en-US" sz="1800"/>
          </a:p>
          <a:p>
            <a:pPr marL="0" indent="0">
              <a:buChar char="•"/>
            </a:pPr>
            <a:r>
              <a:rPr lang="en-IN" sz="1800">
                <a:latin typeface="Franklin Gothic Book" panose="020B0503020102020204"/>
              </a:rPr>
              <a:t>Economic losses from heatwaves are untracked and underestimated</a:t>
            </a:r>
            <a:endParaRPr lang="en-US" sz="1800"/>
          </a:p>
          <a:p>
            <a:pPr marL="0" indent="0">
              <a:buChar char="•"/>
            </a:pPr>
            <a:r>
              <a:rPr lang="en-IN" sz="1800">
                <a:latin typeface="Franklin Gothic Book" panose="020B0503020102020204"/>
              </a:rPr>
              <a:t>State-wise preparedness gaps are invisible to policymakers</a:t>
            </a:r>
            <a:endParaRPr 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pPr marL="0" indent="0">
              <a:buNone/>
            </a:pPr>
            <a:r>
              <a:rPr lang="en-IN" sz="2000" dirty="0">
                <a:latin typeface="Franklin Gothic Book" panose="020B0503020102020204"/>
              </a:rPr>
              <a:t>A 5-page interactive Power BI Dashboard providing actionable insights on India's heatwave health crisis (2015-2024) across 10 high-risk states.</a:t>
            </a:r>
            <a:endParaRPr lang="en-US" sz="2000" dirty="0"/>
          </a:p>
          <a:p>
            <a:pPr marL="0" indent="0">
              <a:buNone/>
            </a:pPr>
            <a:r>
              <a:rPr lang="en-IN" sz="2000" b="1" dirty="0">
                <a:latin typeface="Franklin Gothic Book" panose="020B0503020102020204"/>
              </a:rPr>
              <a:t>Page 1 - Executive Summary:</a:t>
            </a:r>
            <a:endParaRPr lang="en-US" sz="2000" dirty="0"/>
          </a:p>
          <a:p>
            <a:pPr marL="0" indent="0">
              <a:buChar char="•"/>
            </a:pPr>
            <a:r>
              <a:rPr lang="en-IN" sz="1800" dirty="0">
                <a:latin typeface="Franklin Gothic Book" panose="020B0503020102020204"/>
              </a:rPr>
              <a:t>17,000+ heatstroke cases, deaths KPIs, 10-year trend lines with state and year filters.</a:t>
            </a:r>
            <a:endParaRPr lang="en-US" sz="1800" dirty="0"/>
          </a:p>
          <a:p>
            <a:pPr marL="0" indent="0">
              <a:buNone/>
            </a:pPr>
            <a:r>
              <a:rPr lang="en-IN" sz="2000" b="1" dirty="0">
                <a:latin typeface="Franklin Gothic Book" panose="020B0503020102020204"/>
              </a:rPr>
              <a:t>Page 2 - Temperature Deep Dive:</a:t>
            </a:r>
            <a:endParaRPr lang="en-US" sz="2000" dirty="0"/>
          </a:p>
          <a:p>
            <a:pPr marL="0" indent="0">
              <a:buChar char="•"/>
            </a:pPr>
            <a:r>
              <a:rPr lang="en-IN" sz="1800" dirty="0">
                <a:latin typeface="Franklin Gothic Book" panose="020B0503020102020204"/>
              </a:rPr>
              <a:t>Rising temperatures vs heatstroke cases with animated scatter plots and heatwave day column charts.</a:t>
            </a:r>
            <a:endParaRPr lang="en-US" sz="1800" dirty="0"/>
          </a:p>
          <a:p>
            <a:pPr marL="0" indent="0">
              <a:buNone/>
            </a:pPr>
            <a:r>
              <a:rPr lang="en-IN" sz="2000" b="1" dirty="0">
                <a:latin typeface="Franklin Gothic Book" panose="020B0503020102020204"/>
              </a:rPr>
              <a:t>Page 3 - Reporting Gap Analysis:</a:t>
            </a:r>
            <a:endParaRPr lang="en-US" sz="2000" dirty="0"/>
          </a:p>
          <a:p>
            <a:pPr marL="0" indent="0">
              <a:buChar char="•"/>
            </a:pPr>
            <a:r>
              <a:rPr lang="en-IN" sz="1800" dirty="0">
                <a:latin typeface="Franklin Gothic Book" panose="020B0503020102020204"/>
              </a:rPr>
              <a:t>Exposes 60% under-reporting gap using gauge visuals and matrix table.</a:t>
            </a:r>
            <a:endParaRPr lang="en-US" sz="1800" dirty="0"/>
          </a:p>
          <a:p>
            <a:pPr marL="0" indent="0">
              <a:buNone/>
            </a:pPr>
            <a:r>
              <a:rPr lang="en-IN" sz="2000" b="1" dirty="0">
                <a:latin typeface="Franklin Gothic Book" panose="020B0503020102020204"/>
              </a:rPr>
              <a:t>Page 4 - Infrastructure &amp; Preparedness:</a:t>
            </a:r>
            <a:endParaRPr lang="en-US" sz="2000" dirty="0"/>
          </a:p>
          <a:p>
            <a:pPr marL="0" indent="0">
              <a:buChar char="•"/>
            </a:pPr>
            <a:r>
              <a:rPr lang="en-IN" sz="1800" dirty="0">
                <a:latin typeface="Franklin Gothic Book" panose="020B0503020102020204"/>
              </a:rPr>
              <a:t>State preparedness rankings with conditional formatting, scatter analysis proving infrastructure saves lives.</a:t>
            </a:r>
            <a:endParaRPr lang="en-US" sz="1800" dirty="0"/>
          </a:p>
          <a:p>
            <a:pPr marL="0" indent="0">
              <a:buNone/>
            </a:pPr>
            <a:r>
              <a:rPr lang="en-IN" sz="2000" b="1" dirty="0">
                <a:latin typeface="Franklin Gothic Book" panose="020B0503020102020204"/>
              </a:rPr>
              <a:t>Page 5 - Economic Ripple Effects:</a:t>
            </a:r>
            <a:endParaRPr lang="en-US" sz="2000" dirty="0"/>
          </a:p>
          <a:p>
            <a:pPr marL="0" indent="0">
              <a:buChar char="•"/>
            </a:pPr>
            <a:r>
              <a:rPr lang="en-IN" sz="1800" dirty="0">
                <a:latin typeface="Franklin Gothic Book" panose="020B0503020102020204"/>
              </a:rPr>
              <a:t>Power demand surge, crop damage, labour losses and total economic cost by state.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marL="0" indent="0">
              <a:buNone/>
            </a:pPr>
            <a:r>
              <a:rPr lang="en-IN" sz="2000" b="1">
                <a:latin typeface="Franklin Gothic Book" panose="020B0503020102020204"/>
              </a:rPr>
              <a:t>Tools &amp; Technologies:</a:t>
            </a:r>
            <a:endParaRPr lang="en-US" sz="2000"/>
          </a:p>
          <a:p>
            <a:pPr marL="0" indent="0">
              <a:buChar char="•"/>
            </a:pPr>
            <a:r>
              <a:rPr lang="en-IN" sz="1800">
                <a:latin typeface="Franklin Gothic Book" panose="020B0503020102020204"/>
              </a:rPr>
              <a:t>Microsoft Power BI Desktop - 5-page interactive dashboard development</a:t>
            </a:r>
            <a:endParaRPr lang="en-US" sz="1800"/>
          </a:p>
          <a:p>
            <a:pPr marL="0" indent="0">
              <a:buChar char="•"/>
            </a:pPr>
            <a:r>
              <a:rPr lang="en-IN" sz="1800">
                <a:latin typeface="Franklin Gothic Book" panose="020B0503020102020204"/>
              </a:rPr>
              <a:t>Microsoft Excel (.xlsx) - Data storage across 6 structured tables (4 Fact + 2 Dimension)</a:t>
            </a:r>
            <a:endParaRPr lang="en-US" sz="1800"/>
          </a:p>
          <a:p>
            <a:pPr marL="0" indent="0">
              <a:buChar char="•"/>
            </a:pPr>
            <a:r>
              <a:rPr lang="en-IN" sz="1800">
                <a:latin typeface="Franklin Gothic Book" panose="020B0503020102020204"/>
              </a:rPr>
              <a:t>DAX (Data Analysis Expressions) - 15+ custom measures and calculated KPIs</a:t>
            </a:r>
            <a:endParaRPr lang="en-US" sz="1800"/>
          </a:p>
          <a:p>
            <a:pPr marL="0" indent="0">
              <a:buNone/>
            </a:pPr>
            <a:r>
              <a:rPr lang="en-IN" sz="2000" b="1">
                <a:latin typeface="Franklin Gothic Book" panose="020B0503020102020204"/>
              </a:rPr>
              <a:t>Data Model Architecture:</a:t>
            </a:r>
            <a:endParaRPr lang="en-US" sz="2000"/>
          </a:p>
          <a:p>
            <a:pPr marL="0" indent="0">
              <a:buChar char="•"/>
            </a:pPr>
            <a:r>
              <a:rPr lang="en-IN" sz="1800">
                <a:latin typeface="Franklin Gothic Book" panose="020B0503020102020204"/>
              </a:rPr>
              <a:t>Star Schema: 4 Fact tables connected to Dim_State and Dim_Year</a:t>
            </a:r>
            <a:endParaRPr lang="en-US" sz="1800"/>
          </a:p>
          <a:p>
            <a:pPr marL="0" indent="0">
              <a:buChar char="•"/>
            </a:pPr>
            <a:r>
              <a:rPr lang="en-IN" sz="1800">
                <a:latin typeface="Franklin Gothic Book" panose="020B0503020102020204"/>
              </a:rPr>
              <a:t>All relationships: 1-to-Many, Single cross-filter direction</a:t>
            </a:r>
            <a:endParaRPr lang="en-US" sz="1800"/>
          </a:p>
          <a:p>
            <a:pPr marL="0" indent="0">
              <a:buChar char="•"/>
            </a:pPr>
            <a:r>
              <a:rPr lang="en-IN" sz="1800">
                <a:latin typeface="Franklin Gothic Book" panose="020B0503020102020204"/>
              </a:rPr>
              <a:t>Dim_State: 10 states | Dim_Year: 2015 to 2024</a:t>
            </a:r>
            <a:endParaRPr lang="en-US" sz="1800"/>
          </a:p>
          <a:p>
            <a:pPr marL="0" indent="0">
              <a:buNone/>
            </a:pPr>
            <a:r>
              <a:rPr lang="en-IN" sz="2000" b="1">
                <a:latin typeface="Franklin Gothic Book" panose="020B0503020102020204"/>
              </a:rPr>
              <a:t>Data Tables:</a:t>
            </a:r>
            <a:endParaRPr lang="en-US" sz="2000"/>
          </a:p>
          <a:p>
            <a:pPr marL="0" indent="0">
              <a:buChar char="•"/>
            </a:pPr>
            <a:r>
              <a:rPr lang="en-IN" sz="1800">
                <a:latin typeface="Franklin Gothic Book" panose="020B0503020102020204"/>
              </a:rPr>
              <a:t>Fact_HeatStroke_Cases (100 rows), Fact_Temperature (300 rows), Fact_Infrastructure (100 rows), Fact_Ripple_Effects (100 rows)</a:t>
            </a:r>
            <a:endParaRPr 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a:bodyPr>
          <a:lstStyle/>
          <a:p>
            <a:pPr marL="0" indent="0">
              <a:buNone/>
            </a:pPr>
            <a:r>
              <a:rPr lang="en-IN" sz="2000" b="1">
                <a:latin typeface="Franklin Gothic Book" panose="020B0503020102020204"/>
              </a:rPr>
              <a:t>Key DAX Measures Developed:</a:t>
            </a:r>
            <a:endParaRPr lang="en-US" sz="2000"/>
          </a:p>
          <a:p>
            <a:pPr marL="0" indent="0">
              <a:buChar char="•"/>
            </a:pPr>
            <a:r>
              <a:rPr lang="en-IN" sz="1800">
                <a:latin typeface="Franklin Gothic Book" panose="020B0503020102020204"/>
              </a:rPr>
              <a:t>Reporting Rate % = DIVIDE(Official Deaths, Estimated Deaths, 0) x 100</a:t>
            </a:r>
            <a:endParaRPr lang="en-US" sz="1800"/>
          </a:p>
          <a:p>
            <a:pPr marL="0" indent="0">
              <a:buChar char="•"/>
            </a:pPr>
            <a:r>
              <a:rPr lang="en-IN" sz="1700">
                <a:latin typeface="Franklin Gothic Book" panose="020B0503020102020204"/>
              </a:rPr>
              <a:t>Finding: Only 39.7% of heatstroke deaths are officially counted</a:t>
            </a:r>
            <a:endParaRPr lang="en-US" sz="1700"/>
          </a:p>
          <a:p>
            <a:pPr marL="0" indent="0">
              <a:buChar char="•"/>
            </a:pPr>
            <a:r>
              <a:rPr lang="en-IN" sz="1800">
                <a:latin typeface="Franklin Gothic Book" panose="020B0503020102020204"/>
              </a:rPr>
              <a:t>Hidden Deaths = SUM(Deaths_Estimated) - SUM(Deaths_Official) = 6,000 uncounted deaths</a:t>
            </a:r>
            <a:endParaRPr lang="en-US" sz="1800"/>
          </a:p>
          <a:p>
            <a:pPr marL="0" indent="0">
              <a:buChar char="•"/>
            </a:pPr>
            <a:r>
              <a:rPr lang="en-IN" sz="1800">
                <a:latin typeface="Franklin Gothic Book" panose="020B0503020102020204"/>
              </a:rPr>
              <a:t>Temp Anomaly = Current Avg Temp - 2015 Baseline Temperature</a:t>
            </a:r>
            <a:endParaRPr lang="en-US" sz="1800"/>
          </a:p>
          <a:p>
            <a:pPr marL="0" indent="0">
              <a:buChar char="•"/>
            </a:pPr>
            <a:r>
              <a:rPr lang="en-IN" sz="1800">
                <a:latin typeface="Franklin Gothic Book" panose="020B0503020102020204"/>
              </a:rPr>
              <a:t>Gap Category = SWITCH(TRUE(), Rate &lt; 40, Critical, Rate &lt; 60, Severe, Rate &lt; 80, Moderate)</a:t>
            </a:r>
            <a:endParaRPr lang="en-US" sz="1800"/>
          </a:p>
          <a:p>
            <a:pPr marL="0" indent="0">
              <a:buChar char="•"/>
            </a:pPr>
            <a:r>
              <a:rPr lang="en-IN" sz="1800">
                <a:latin typeface="Franklin Gothic Book" panose="020B0503020102020204"/>
              </a:rPr>
              <a:t>Budget Utilisation % = DIVIDE(Budget_Utilised_Cr, Budget_Allocated_Cr, 0) x 100</a:t>
            </a:r>
            <a:endParaRPr lang="en-US" sz="1800"/>
          </a:p>
          <a:p>
            <a:pPr marL="0" indent="0">
              <a:buChar char="•"/>
            </a:pPr>
            <a:r>
              <a:rPr lang="en-IN" sz="1800">
                <a:latin typeface="Franklin Gothic Book" panose="020B0503020102020204"/>
              </a:rPr>
              <a:t>Preparedness Rank = RANKX(ALL(State_Name), Avg Preparedness Score,, DESC, DENSE)</a:t>
            </a:r>
            <a:endParaRPr lang="en-US" sz="1800"/>
          </a:p>
          <a:p>
            <a:pPr marL="0" indent="0">
              <a:buNone/>
            </a:pPr>
            <a:r>
              <a:rPr lang="en-IN" sz="2000" b="1">
                <a:latin typeface="Franklin Gothic Book" panose="020B0503020102020204"/>
              </a:rPr>
              <a:t>Dashboard Features:</a:t>
            </a:r>
            <a:endParaRPr lang="en-US" sz="2000"/>
          </a:p>
          <a:p>
            <a:pPr marL="0" indent="0">
              <a:buChar char="•"/>
            </a:pPr>
            <a:r>
              <a:rPr lang="en-IN" sz="1800">
                <a:latin typeface="Franklin Gothic Book" panose="020B0503020102020204"/>
              </a:rPr>
              <a:t>Edit Interactions to control slicer filters | Conditional formatting with Rules on all key visuals</a:t>
            </a:r>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pPr marL="0" indent="0">
              <a:buNone/>
            </a:pPr>
            <a:r>
              <a:rPr lang="en-IN" sz="2000" b="1">
                <a:latin typeface="Franklin Gothic Book" panose="020B0503020102020204"/>
              </a:rPr>
              <a:t>Key Dashboard Findings:</a:t>
            </a:r>
            <a:endParaRPr lang="en-US" sz="2000"/>
          </a:p>
          <a:p>
            <a:pPr marL="0" indent="0">
              <a:buChar char="•"/>
            </a:pPr>
            <a:r>
              <a:rPr lang="en-IN" sz="1800">
                <a:latin typeface="Franklin Gothic Book" panose="020B0503020102020204"/>
              </a:rPr>
              <a:t>17,000+ total heatstroke cases recorded across 10 states from 2015 to 2024</a:t>
            </a:r>
            <a:endParaRPr lang="en-US" sz="1800"/>
          </a:p>
          <a:p>
            <a:pPr marL="0" indent="0">
              <a:buChar char="•"/>
            </a:pPr>
            <a:r>
              <a:rPr lang="en-IN" sz="1800">
                <a:latin typeface="Franklin Gothic Book" panose="020B0503020102020204"/>
              </a:rPr>
              <a:t>Only 39.7% of estimated deaths are officially reported by state governments</a:t>
            </a:r>
            <a:endParaRPr lang="en-US" sz="1800"/>
          </a:p>
          <a:p>
            <a:pPr marL="0" indent="0">
              <a:buChar char="•"/>
            </a:pPr>
            <a:r>
              <a:rPr lang="en-IN" sz="1800">
                <a:latin typeface="Franklin Gothic Book" panose="020B0503020102020204"/>
              </a:rPr>
              <a:t>6,000 hidden deaths never officially counted across the 10-year period</a:t>
            </a:r>
            <a:endParaRPr lang="en-US" sz="1800"/>
          </a:p>
          <a:p>
            <a:pPr marL="0" indent="0">
              <a:buChar char="•"/>
            </a:pPr>
            <a:r>
              <a:rPr lang="en-IN" sz="1800">
                <a:latin typeface="Franklin Gothic Book" panose="020B0503020102020204"/>
              </a:rPr>
              <a:t>Bihar has the lowest preparedness score (55/100) AND the highest hidden deaths</a:t>
            </a:r>
            <a:endParaRPr lang="en-US" sz="1800"/>
          </a:p>
          <a:p>
            <a:pPr marL="0" indent="0">
              <a:buChar char="•"/>
            </a:pPr>
            <a:r>
              <a:rPr lang="en-IN" sz="1800">
                <a:latin typeface="Franklin Gothic Book" panose="020B0503020102020204"/>
              </a:rPr>
              <a:t>Delhi ranks #1 in preparedness (96/100) with 3x fewer deaths per lakh than Bihar</a:t>
            </a:r>
            <a:endParaRPr lang="en-US" sz="1800"/>
          </a:p>
          <a:p>
            <a:pPr marL="0" indent="0">
              <a:buChar char="•"/>
            </a:pPr>
            <a:r>
              <a:rPr lang="en-IN" sz="1800">
                <a:latin typeface="Franklin Gothic Book" panose="020B0503020102020204"/>
              </a:rPr>
              <a:t>Peak power demand surged 59% from 2015 to 2024 due to heatwave cooling loads</a:t>
            </a:r>
            <a:endParaRPr lang="en-US" sz="1800"/>
          </a:p>
          <a:p>
            <a:pPr marL="0" indent="0">
              <a:buChar char="•"/>
            </a:pPr>
            <a:r>
              <a:rPr lang="en-IN" sz="1800">
                <a:latin typeface="Franklin Gothic Book" panose="020B0503020102020204"/>
              </a:rPr>
              <a:t>Every 10-point rise in preparedness score = 15% reduction in heatstroke deaths</a:t>
            </a:r>
            <a:endParaRPr lang="en-US" sz="1800"/>
          </a:p>
          <a:p>
            <a:pPr marL="0" indent="0">
              <a:buChar char="•"/>
            </a:pPr>
            <a:r>
              <a:rPr lang="en-IN" sz="1800">
                <a:latin typeface="Franklin Gothic Book" panose="020B0503020102020204"/>
              </a:rPr>
              <a:t>Budget utilisation gap: States receive allocated funds but do not fully spend them</a:t>
            </a:r>
            <a:endParaRPr lang="en-US" sz="1800"/>
          </a:p>
          <a:p>
            <a:pPr marL="0" indent="0">
              <a:buNone/>
            </a:pPr>
            <a:r>
              <a:rPr lang="en-IN" sz="1900">
                <a:latin typeface="Franklin Gothic Book" panose="020B0503020102020204"/>
              </a:rPr>
              <a:t>Deliverable: 5-page interactive Power BI report with full state and year filter functionality.</a:t>
            </a:r>
            <a:endParaRPr lang="en-US" sz="1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A8E0E6-B58B-0BA4-9CB0-51733207BF4B}"/>
              </a:ext>
            </a:extLst>
          </p:cNvPr>
          <p:cNvPicPr>
            <a:picLocks noChangeAspect="1"/>
          </p:cNvPicPr>
          <p:nvPr/>
        </p:nvPicPr>
        <p:blipFill>
          <a:blip r:embed="rId2"/>
          <a:stretch>
            <a:fillRect/>
          </a:stretch>
        </p:blipFill>
        <p:spPr>
          <a:xfrm>
            <a:off x="407405" y="731751"/>
            <a:ext cx="10082543" cy="5631058"/>
          </a:xfrm>
          <a:prstGeom prst="rect">
            <a:avLst/>
          </a:prstGeom>
        </p:spPr>
      </p:pic>
    </p:spTree>
    <p:extLst>
      <p:ext uri="{BB962C8B-B14F-4D97-AF65-F5344CB8AC3E}">
        <p14:creationId xmlns:p14="http://schemas.microsoft.com/office/powerpoint/2010/main" val="62666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46064A-DB3F-8139-C8B0-25BF329D1006}"/>
              </a:ext>
            </a:extLst>
          </p:cNvPr>
          <p:cNvPicPr>
            <a:picLocks noChangeAspect="1"/>
          </p:cNvPicPr>
          <p:nvPr/>
        </p:nvPicPr>
        <p:blipFill>
          <a:blip r:embed="rId2"/>
          <a:stretch>
            <a:fillRect/>
          </a:stretch>
        </p:blipFill>
        <p:spPr>
          <a:xfrm>
            <a:off x="271604" y="705169"/>
            <a:ext cx="10399414" cy="5835958"/>
          </a:xfrm>
          <a:prstGeom prst="rect">
            <a:avLst/>
          </a:prstGeom>
        </p:spPr>
      </p:pic>
    </p:spTree>
    <p:extLst>
      <p:ext uri="{BB962C8B-B14F-4D97-AF65-F5344CB8AC3E}">
        <p14:creationId xmlns:p14="http://schemas.microsoft.com/office/powerpoint/2010/main" val="201167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206AB6-C94C-5F2E-CF7A-CECD631E1F3B}"/>
              </a:ext>
            </a:extLst>
          </p:cNvPr>
          <p:cNvPicPr>
            <a:picLocks noChangeAspect="1"/>
          </p:cNvPicPr>
          <p:nvPr/>
        </p:nvPicPr>
        <p:blipFill>
          <a:blip r:embed="rId2"/>
          <a:stretch>
            <a:fillRect/>
          </a:stretch>
        </p:blipFill>
        <p:spPr>
          <a:xfrm>
            <a:off x="407405" y="746910"/>
            <a:ext cx="10167043" cy="5740381"/>
          </a:xfrm>
          <a:prstGeom prst="rect">
            <a:avLst/>
          </a:prstGeom>
        </p:spPr>
      </p:pic>
    </p:spTree>
    <p:extLst>
      <p:ext uri="{BB962C8B-B14F-4D97-AF65-F5344CB8AC3E}">
        <p14:creationId xmlns:p14="http://schemas.microsoft.com/office/powerpoint/2010/main" val="4051804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8FAC8A-1E00-76B4-BBB3-344FE02CC913}"/>
              </a:ext>
            </a:extLst>
          </p:cNvPr>
          <p:cNvPicPr>
            <a:picLocks noChangeAspect="1"/>
          </p:cNvPicPr>
          <p:nvPr/>
        </p:nvPicPr>
        <p:blipFill>
          <a:blip r:embed="rId2"/>
          <a:stretch>
            <a:fillRect/>
          </a:stretch>
        </p:blipFill>
        <p:spPr>
          <a:xfrm>
            <a:off x="452673" y="733521"/>
            <a:ext cx="10371300" cy="5834768"/>
          </a:xfrm>
          <a:prstGeom prst="rect">
            <a:avLst/>
          </a:prstGeom>
        </p:spPr>
      </p:pic>
    </p:spTree>
    <p:extLst>
      <p:ext uri="{BB962C8B-B14F-4D97-AF65-F5344CB8AC3E}">
        <p14:creationId xmlns:p14="http://schemas.microsoft.com/office/powerpoint/2010/main" val="4211073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214AAF-AD19-DC37-B05E-94BAFBA1C65C}"/>
              </a:ext>
            </a:extLst>
          </p:cNvPr>
          <p:cNvPicPr>
            <a:picLocks noChangeAspect="1"/>
          </p:cNvPicPr>
          <p:nvPr/>
        </p:nvPicPr>
        <p:blipFill>
          <a:blip r:embed="rId2"/>
          <a:stretch>
            <a:fillRect/>
          </a:stretch>
        </p:blipFill>
        <p:spPr>
          <a:xfrm>
            <a:off x="479833" y="709731"/>
            <a:ext cx="10517107" cy="5887214"/>
          </a:xfrm>
          <a:prstGeom prst="rect">
            <a:avLst/>
          </a:prstGeom>
        </p:spPr>
      </p:pic>
    </p:spTree>
    <p:extLst>
      <p:ext uri="{BB962C8B-B14F-4D97-AF65-F5344CB8AC3E}">
        <p14:creationId xmlns:p14="http://schemas.microsoft.com/office/powerpoint/2010/main" val="166129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IN" sz="2000" b="1">
                <a:latin typeface="Franklin Gothic Book" panose="020B0503020102020204"/>
              </a:rPr>
              <a:t>The Heatwave &amp; Health Crisis Dashboard successfully:</a:t>
            </a:r>
            <a:endParaRPr lang="en-US" sz="2000"/>
          </a:p>
          <a:p>
            <a:pPr marL="0" indent="0">
              <a:buChar char="•"/>
            </a:pPr>
            <a:r>
              <a:rPr lang="en-IN" sz="1800">
                <a:latin typeface="Franklin Gothic Book" panose="020B0503020102020204"/>
              </a:rPr>
              <a:t>Exposed a 60% under-reporting gap in official heatstroke death data across Indian states</a:t>
            </a:r>
            <a:endParaRPr lang="en-US" sz="1800"/>
          </a:p>
          <a:p>
            <a:pPr marL="0" indent="0">
              <a:buChar char="•"/>
            </a:pPr>
            <a:r>
              <a:rPr lang="en-IN" sz="1800">
                <a:latin typeface="Franklin Gothic Book" panose="020B0503020102020204"/>
              </a:rPr>
              <a:t>Proved a direct correlation: higher preparedness score = significantly lower death rates</a:t>
            </a:r>
            <a:endParaRPr lang="en-US" sz="1800"/>
          </a:p>
          <a:p>
            <a:pPr marL="0" indent="0">
              <a:buChar char="•"/>
            </a:pPr>
            <a:r>
              <a:rPr lang="en-IN" sz="1800">
                <a:latin typeface="Franklin Gothic Book" panose="020B0503020102020204"/>
              </a:rPr>
              <a:t>Identified Bihar, Uttar Pradesh, and Madhya Pradesh as the highest-risk states</a:t>
            </a:r>
            <a:endParaRPr lang="en-US" sz="1800"/>
          </a:p>
          <a:p>
            <a:pPr marL="0" indent="0">
              <a:buChar char="•"/>
            </a:pPr>
            <a:r>
              <a:rPr lang="en-IN" sz="1800">
                <a:latin typeface="Franklin Gothic Book" panose="020B0503020102020204"/>
              </a:rPr>
              <a:t>Quantified the economic cost: power demand surges, crop losses, and lost labour days</a:t>
            </a:r>
            <a:endParaRPr lang="en-US" sz="1800"/>
          </a:p>
          <a:p>
            <a:pPr marL="0" indent="0">
              <a:buChar char="•"/>
            </a:pPr>
            <a:r>
              <a:rPr lang="en-IN" sz="1800">
                <a:latin typeface="Franklin Gothic Book" panose="020B0503020102020204"/>
              </a:rPr>
              <a:t>Delivered a 5-page interactive Power BI dashboard enabling state-wise and year-wise filtering</a:t>
            </a:r>
            <a:endParaRPr lang="en-US" sz="1800"/>
          </a:p>
          <a:p>
            <a:pPr marL="0" indent="0">
              <a:buNone/>
            </a:pPr>
            <a:r>
              <a:rPr lang="en-IN" sz="2000" b="1">
                <a:latin typeface="Franklin Gothic Book" panose="020B0503020102020204"/>
              </a:rPr>
              <a:t>Core Message:</a:t>
            </a:r>
            <a:endParaRPr lang="en-US" sz="2000"/>
          </a:p>
          <a:p>
            <a:pPr marL="0" indent="0">
              <a:buNone/>
            </a:pPr>
            <a:r>
              <a:rPr lang="en-IN" sz="1900">
                <a:latin typeface="Franklin Gothic Book" panose="020B0503020102020204"/>
              </a:rPr>
              <a:t>Data transparency and infrastructure investment are the two most powerful tools to reduce heatstroke mortality in India. The cost of inaction, measured in hidden deaths and economic losses, far exceeds the cost of prevention.</a:t>
            </a:r>
            <a:endParaRPr lang="en-US" sz="1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buChar char="•"/>
            </a:pPr>
            <a:r>
              <a:rPr lang="en-IN" sz="1900" dirty="0">
                <a:latin typeface="Franklin Gothic Book" panose="020B0503020102020204"/>
              </a:rPr>
              <a:t>Integrate real-time IMD (India Meteorological Department) data feeds for live heatwave alerts</a:t>
            </a:r>
            <a:endParaRPr lang="en-US" sz="1900" dirty="0"/>
          </a:p>
          <a:p>
            <a:pPr marL="0" indent="0">
              <a:buChar char="•"/>
            </a:pPr>
            <a:r>
              <a:rPr lang="en-IN" sz="1900" dirty="0">
                <a:latin typeface="Franklin Gothic Book" panose="020B0503020102020204"/>
              </a:rPr>
              <a:t>Expand coverage to all 28 states and 8 Union Territories of India</a:t>
            </a:r>
            <a:endParaRPr lang="en-US" sz="1900" dirty="0"/>
          </a:p>
          <a:p>
            <a:pPr marL="0" indent="0">
              <a:buChar char="•"/>
            </a:pPr>
            <a:r>
              <a:rPr lang="en-IN" sz="1900" dirty="0">
                <a:latin typeface="Franklin Gothic Book" panose="020B0503020102020204"/>
              </a:rPr>
              <a:t>Add predictive ML models to forecast heatstroke cases for upcoming summer seasons</a:t>
            </a:r>
            <a:endParaRPr lang="en-US" sz="1900" dirty="0"/>
          </a:p>
          <a:p>
            <a:pPr marL="0" indent="0">
              <a:buChar char="•"/>
            </a:pPr>
            <a:r>
              <a:rPr lang="en-IN" sz="1900" dirty="0">
                <a:latin typeface="Franklin Gothic Book" panose="020B0503020102020204"/>
              </a:rPr>
              <a:t>Include district-level granularity for more targeted policy recommendations</a:t>
            </a:r>
            <a:endParaRPr lang="en-US" sz="1900" dirty="0"/>
          </a:p>
          <a:p>
            <a:pPr marL="0" indent="0">
              <a:buChar char="•"/>
            </a:pPr>
            <a:r>
              <a:rPr lang="en-IN" sz="1900" dirty="0">
                <a:latin typeface="Franklin Gothic Book" panose="020B0503020102020204"/>
              </a:rPr>
              <a:t>Build a mobile-responsive dashboard version for field health workers and district collectors</a:t>
            </a:r>
            <a:endParaRPr lang="en-US" sz="1900" dirty="0"/>
          </a:p>
          <a:p>
            <a:pPr marL="0" indent="0">
              <a:buChar char="•"/>
            </a:pPr>
            <a:r>
              <a:rPr lang="en-IN" sz="1900" dirty="0">
                <a:latin typeface="Franklin Gothic Book" panose="020B0503020102020204"/>
              </a:rPr>
              <a:t>Connect with NDMA data pipelines for real-time crisis response and early warning systems</a:t>
            </a:r>
            <a:endParaRPr lang="en-US" sz="1900" dirty="0"/>
          </a:p>
          <a:p>
            <a:pPr marL="0" indent="0">
              <a:buChar char="•"/>
            </a:pPr>
            <a:r>
              <a:rPr lang="en-IN" sz="1900" dirty="0">
                <a:latin typeface="Franklin Gothic Book" panose="020B0503020102020204"/>
              </a:rPr>
              <a:t>Incorporate socioeconomic factors such as poverty index and urban heat island effect into risk    scoring</a:t>
            </a:r>
            <a:endParaRPr lang="en-US" sz="1900" dirty="0"/>
          </a:p>
          <a:p>
            <a:pPr marL="0" indent="0">
              <a:buChar char="•"/>
            </a:pPr>
            <a:r>
              <a:rPr lang="en-IN" sz="1900" dirty="0">
                <a:latin typeface="Franklin Gothic Book" panose="020B0503020102020204"/>
              </a:rPr>
              <a:t>Develop automated alerts notifying district officials when heatwave risk thresholds are crossed</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Char char="•"/>
            </a:pPr>
            <a:r>
              <a:rPr lang="en-IN" sz="1900" dirty="0">
                <a:latin typeface="Franklin Gothic Book" panose="020B0503020102020204"/>
              </a:rPr>
              <a:t>India Meteorological Department (IMD) - Annual Heatwave Reports. imd.gov.in</a:t>
            </a:r>
            <a:endParaRPr lang="en-US" sz="1900" dirty="0"/>
          </a:p>
          <a:p>
            <a:pPr marL="0" indent="0">
              <a:buChar char="•"/>
            </a:pPr>
            <a:r>
              <a:rPr lang="en-IN" sz="1900" dirty="0">
                <a:latin typeface="Franklin Gothic Book" panose="020B0503020102020204"/>
              </a:rPr>
              <a:t>National Disaster Management Authority - State Heat Action Plans. ndma.gov.in</a:t>
            </a:r>
            <a:endParaRPr lang="en-US" sz="1900" dirty="0"/>
          </a:p>
          <a:p>
            <a:pPr marL="0" indent="0">
              <a:buChar char="•"/>
            </a:pPr>
            <a:r>
              <a:rPr lang="en-IN" sz="1900" dirty="0">
                <a:latin typeface="Franklin Gothic Book" panose="020B0503020102020204"/>
              </a:rPr>
              <a:t>Lancet Countdown on Health and Climate Change - India Brief 2023</a:t>
            </a:r>
            <a:endParaRPr lang="en-US" sz="1900" dirty="0"/>
          </a:p>
          <a:p>
            <a:pPr marL="0" indent="0">
              <a:buChar char="•"/>
            </a:pPr>
            <a:r>
              <a:rPr lang="en-IN" sz="1900" dirty="0">
                <a:latin typeface="Franklin Gothic Book" panose="020B0503020102020204"/>
              </a:rPr>
              <a:t>World Health Organization (WHO) - Climate Change and Health: Heat and Health Factsheet</a:t>
            </a:r>
            <a:endParaRPr lang="en-US" sz="1900" dirty="0"/>
          </a:p>
          <a:p>
            <a:pPr marL="0" indent="0">
              <a:buChar char="•"/>
            </a:pPr>
            <a:r>
              <a:rPr lang="en-IN" sz="1900" dirty="0">
                <a:latin typeface="Franklin Gothic Book" panose="020B0503020102020204"/>
              </a:rPr>
              <a:t>Census of India 2011 - State-wise Population and Demographic Data</a:t>
            </a:r>
            <a:endParaRPr lang="en-US" sz="1900" dirty="0"/>
          </a:p>
          <a:p>
            <a:pPr marL="0" indent="0">
              <a:buChar char="•"/>
            </a:pPr>
            <a:r>
              <a:rPr lang="en-IN" sz="1900" dirty="0">
                <a:latin typeface="Franklin Gothic Book" panose="020B0503020102020204"/>
              </a:rPr>
              <a:t>NCRB - Accidental Deaths and Suicides in India (Annual Reports 2015-2024)</a:t>
            </a:r>
            <a:endParaRPr lang="en-US" sz="1900" dirty="0"/>
          </a:p>
          <a:p>
            <a:pPr marL="0" indent="0">
              <a:buChar char="•"/>
            </a:pPr>
            <a:r>
              <a:rPr lang="en-IN" sz="1900" dirty="0">
                <a:latin typeface="Franklin Gothic Book" panose="020B0503020102020204"/>
              </a:rPr>
              <a:t>Microsoft Power BI Documentation and DAX Reference Guide. learn.microsoft.com</a:t>
            </a:r>
            <a:endParaRPr lang="en-US" sz="1900" dirty="0"/>
          </a:p>
          <a:p>
            <a:pPr marL="0" indent="0">
              <a:buNone/>
            </a:pPr>
            <a:r>
              <a:rPr lang="en-IN" sz="1900" b="1" dirty="0">
                <a:latin typeface="Franklin Gothic Book" panose="020B0503020102020204"/>
              </a:rPr>
              <a:t>GitHub Repository: [Add your GitHub link if uploading the .</a:t>
            </a:r>
            <a:r>
              <a:rPr lang="en-IN" sz="1900" b="1" dirty="0" err="1">
                <a:latin typeface="Franklin Gothic Book" panose="020B0503020102020204"/>
              </a:rPr>
              <a:t>pbix</a:t>
            </a:r>
            <a:r>
              <a:rPr lang="en-IN" sz="1900" b="1" dirty="0">
                <a:latin typeface="Franklin Gothic Book" panose="020B0503020102020204"/>
              </a:rPr>
              <a:t> file]</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1061</Words>
  <Application>Microsoft Office PowerPoint</Application>
  <PresentationFormat>Widescreen</PresentationFormat>
  <Paragraphs>104</Paragraphs>
  <Slides>16</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PowerPoint Presentation</vt:lpstr>
      <vt:lpstr>PowerPoint Presentation</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Shreya Itkapalle</cp:lastModifiedBy>
  <cp:revision>103</cp:revision>
  <dcterms:created xsi:type="dcterms:W3CDTF">2024-05-21T11:55:00Z</dcterms:created>
  <dcterms:modified xsi:type="dcterms:W3CDTF">2026-03-10T20:31:26Z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